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3" r:id="rId3"/>
    <p:sldId id="258" r:id="rId4"/>
    <p:sldId id="268" r:id="rId5"/>
    <p:sldId id="260" r:id="rId6"/>
    <p:sldId id="269" r:id="rId7"/>
    <p:sldId id="270" r:id="rId8"/>
    <p:sldId id="271" r:id="rId9"/>
    <p:sldId id="264" r:id="rId10"/>
    <p:sldId id="272" r:id="rId11"/>
    <p:sldId id="265" r:id="rId12"/>
    <p:sldId id="266" r:id="rId13"/>
    <p:sldId id="267" r:id="rId1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9080500" cy="838200"/>
          </a:xfrm>
          <a:custGeom>
            <a:avLst/>
            <a:gdLst/>
            <a:ahLst/>
            <a:cxnLst/>
            <a:rect l="l" t="t" r="r" b="b"/>
            <a:pathLst>
              <a:path w="9080500" h="838200">
                <a:moveTo>
                  <a:pt x="9080500" y="838199"/>
                </a:moveTo>
                <a:lnTo>
                  <a:pt x="0" y="838199"/>
                </a:lnTo>
                <a:lnTo>
                  <a:pt x="0" y="0"/>
                </a:lnTo>
                <a:lnTo>
                  <a:pt x="9080500" y="0"/>
                </a:lnTo>
                <a:lnTo>
                  <a:pt x="9080500" y="838199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705599"/>
            <a:ext cx="9080500" cy="152400"/>
          </a:xfrm>
          <a:custGeom>
            <a:avLst/>
            <a:gdLst/>
            <a:ahLst/>
            <a:cxnLst/>
            <a:rect l="l" t="t" r="r" b="b"/>
            <a:pathLst>
              <a:path w="9080500" h="152400">
                <a:moveTo>
                  <a:pt x="9080500" y="152400"/>
                </a:moveTo>
                <a:lnTo>
                  <a:pt x="0" y="152400"/>
                </a:lnTo>
                <a:lnTo>
                  <a:pt x="0" y="0"/>
                </a:lnTo>
                <a:lnTo>
                  <a:pt x="9080500" y="0"/>
                </a:lnTo>
                <a:lnTo>
                  <a:pt x="9080500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3200" y="228600"/>
            <a:ext cx="2057399" cy="63817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146793" y="0"/>
            <a:ext cx="2995930" cy="838200"/>
          </a:xfrm>
          <a:custGeom>
            <a:avLst/>
            <a:gdLst/>
            <a:ahLst/>
            <a:cxnLst/>
            <a:rect l="l" t="t" r="r" b="b"/>
            <a:pathLst>
              <a:path w="2995929" h="838200">
                <a:moveTo>
                  <a:pt x="2995920" y="838193"/>
                </a:moveTo>
                <a:lnTo>
                  <a:pt x="0" y="838193"/>
                </a:lnTo>
                <a:lnTo>
                  <a:pt x="0" y="0"/>
                </a:lnTo>
                <a:lnTo>
                  <a:pt x="2995920" y="0"/>
                </a:lnTo>
                <a:lnTo>
                  <a:pt x="2995920" y="838193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7791" y="190496"/>
            <a:ext cx="2082807" cy="68579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012" y="866775"/>
            <a:ext cx="4695824" cy="24860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71294" y="3429000"/>
            <a:ext cx="6438899" cy="30575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5270" cy="838200"/>
          </a:xfrm>
          <a:custGeom>
            <a:avLst/>
            <a:gdLst/>
            <a:ahLst/>
            <a:cxnLst/>
            <a:rect l="l" t="t" r="r" b="b"/>
            <a:pathLst>
              <a:path w="9145270" h="838200">
                <a:moveTo>
                  <a:pt x="9144892" y="838200"/>
                </a:moveTo>
                <a:lnTo>
                  <a:pt x="0" y="838200"/>
                </a:lnTo>
                <a:lnTo>
                  <a:pt x="0" y="0"/>
                </a:lnTo>
                <a:lnTo>
                  <a:pt x="9144892" y="0"/>
                </a:lnTo>
                <a:lnTo>
                  <a:pt x="9144892" y="83820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7056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>
                <a:moveTo>
                  <a:pt x="9143999" y="152399"/>
                </a:moveTo>
                <a:lnTo>
                  <a:pt x="0" y="152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523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6284" y="119879"/>
            <a:ext cx="4144010" cy="581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7472" y="1204066"/>
            <a:ext cx="5043170" cy="3698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vitejs.dev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itechindia.co/blog/features-of-student-management-system/" TargetMode="External"/><Relationship Id="rId4" Type="http://schemas.openxmlformats.org/officeDocument/2006/relationships/hyperlink" Target="https://geniusee.com/single-blog/key-features-of-school-management-software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46793" y="0"/>
            <a:ext cx="2995930" cy="876300"/>
            <a:chOff x="6146793" y="0"/>
            <a:chExt cx="2995930" cy="876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0" y="228600"/>
              <a:ext cx="2057399" cy="6381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46793" y="0"/>
              <a:ext cx="2995930" cy="838200"/>
            </a:xfrm>
            <a:custGeom>
              <a:avLst/>
              <a:gdLst/>
              <a:ahLst/>
              <a:cxnLst/>
              <a:rect l="l" t="t" r="r" b="b"/>
              <a:pathLst>
                <a:path w="2995929" h="838200">
                  <a:moveTo>
                    <a:pt x="2995920" y="838193"/>
                  </a:moveTo>
                  <a:lnTo>
                    <a:pt x="0" y="838193"/>
                  </a:lnTo>
                  <a:lnTo>
                    <a:pt x="0" y="0"/>
                  </a:lnTo>
                  <a:lnTo>
                    <a:pt x="2995920" y="0"/>
                  </a:lnTo>
                  <a:lnTo>
                    <a:pt x="2995920" y="838193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791" y="190496"/>
              <a:ext cx="2082807" cy="68579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89085" y="1157160"/>
            <a:ext cx="48672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solidFill>
                  <a:srgbClr val="FF0000"/>
                </a:solidFill>
                <a:latin typeface="Arial MT"/>
                <a:cs typeface="Arial MT"/>
              </a:rPr>
              <a:t>Front</a:t>
            </a:r>
            <a:r>
              <a:rPr sz="35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FF0000"/>
                </a:solidFill>
                <a:latin typeface="Arial MT"/>
                <a:cs typeface="Arial MT"/>
              </a:rPr>
              <a:t>End</a:t>
            </a:r>
            <a:r>
              <a:rPr sz="35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500" spc="-25" dirty="0">
                <a:solidFill>
                  <a:srgbClr val="FF0000"/>
                </a:solidFill>
                <a:latin typeface="Arial MT"/>
                <a:cs typeface="Arial MT"/>
              </a:rPr>
              <a:t>Engineering-II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08437" y="2852937"/>
            <a:ext cx="5113020" cy="2746375"/>
          </a:xfrm>
          <a:prstGeom prst="rect">
            <a:avLst/>
          </a:prstGeom>
          <a:solidFill>
            <a:srgbClr val="FABF8F"/>
          </a:solidFill>
        </p:spPr>
        <p:txBody>
          <a:bodyPr vert="horz" wrap="square" lIns="0" tIns="635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50"/>
              </a:spcBef>
            </a:pPr>
            <a:r>
              <a:rPr sz="2000" dirty="0">
                <a:latin typeface="Calibri"/>
                <a:cs typeface="Calibri"/>
              </a:rPr>
              <a:t>Team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Details: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Arjun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Sharma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2410990941</a:t>
            </a:r>
            <a:endParaRPr sz="2000">
              <a:latin typeface="Calibri"/>
              <a:cs typeface="Calibri"/>
            </a:endParaRPr>
          </a:p>
          <a:p>
            <a:pPr marL="1461770">
              <a:lnSpc>
                <a:spcPct val="100000"/>
              </a:lnSpc>
              <a:spcBef>
                <a:spcPts val="145"/>
              </a:spcBef>
            </a:pPr>
            <a:r>
              <a:rPr sz="2000" b="1" dirty="0">
                <a:latin typeface="Calibri"/>
                <a:cs typeface="Calibri"/>
              </a:rPr>
              <a:t>Ankush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2410990923</a:t>
            </a:r>
            <a:endParaRPr sz="2000">
              <a:latin typeface="Calibri"/>
              <a:cs typeface="Calibri"/>
            </a:endParaRPr>
          </a:p>
          <a:p>
            <a:pPr marL="140398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Amit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2410990918</a:t>
            </a:r>
            <a:endParaRPr sz="2000">
              <a:latin typeface="Calibri"/>
              <a:cs typeface="Calibri"/>
            </a:endParaRPr>
          </a:p>
          <a:p>
            <a:pPr marL="140398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Abhinandan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2410990894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2000">
              <a:latin typeface="Calibri"/>
              <a:cs typeface="Calibri"/>
            </a:endParaRPr>
          </a:p>
          <a:p>
            <a:pPr marL="32384">
              <a:lnSpc>
                <a:spcPct val="100000"/>
              </a:lnSpc>
            </a:pPr>
            <a:r>
              <a:rPr sz="2000" spc="-10" dirty="0">
                <a:latin typeface="Lucida Sans Unicode"/>
                <a:cs typeface="Lucida Sans Unicode"/>
              </a:rPr>
              <a:t>Faculty</a:t>
            </a:r>
            <a:r>
              <a:rPr sz="2000" spc="-65" dirty="0">
                <a:latin typeface="Lucida Sans Unicode"/>
                <a:cs typeface="Lucida Sans Unicode"/>
              </a:rPr>
              <a:t> </a:t>
            </a:r>
            <a:r>
              <a:rPr sz="2000" spc="-20" dirty="0">
                <a:latin typeface="Lucida Sans Unicode"/>
                <a:cs typeface="Lucida Sans Unicode"/>
              </a:rPr>
              <a:t>Coordinator</a:t>
            </a:r>
            <a:r>
              <a:rPr sz="2000" spc="-6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:</a:t>
            </a:r>
            <a:r>
              <a:rPr sz="2000" spc="-6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Md.</a:t>
            </a:r>
            <a:r>
              <a:rPr sz="2000" spc="-6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Shadab</a:t>
            </a:r>
            <a:r>
              <a:rPr sz="2000" spc="-6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Ansari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6364" y="5616660"/>
            <a:ext cx="7331075" cy="6254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828800" marR="5080" indent="-1816735">
              <a:lnSpc>
                <a:spcPts val="2320"/>
              </a:lnSpc>
              <a:spcBef>
                <a:spcPts val="240"/>
              </a:spcBef>
            </a:pPr>
            <a:r>
              <a:rPr sz="2000" spc="-25" dirty="0">
                <a:solidFill>
                  <a:srgbClr val="FF0000"/>
                </a:solidFill>
                <a:latin typeface="Lucida Sans Unicode"/>
                <a:cs typeface="Lucida Sans Unicode"/>
              </a:rPr>
              <a:t>Chitkara</a:t>
            </a:r>
            <a:r>
              <a:rPr sz="2000" spc="-7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University</a:t>
            </a:r>
            <a:r>
              <a:rPr sz="2000" spc="-7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0000"/>
                </a:solidFill>
                <a:latin typeface="Lucida Sans Unicode"/>
                <a:cs typeface="Lucida Sans Unicode"/>
              </a:rPr>
              <a:t>Institute</a:t>
            </a:r>
            <a:r>
              <a:rPr sz="2000" spc="-7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0000"/>
                </a:solidFill>
                <a:latin typeface="Lucida Sans Unicode"/>
                <a:cs typeface="Lucida Sans Unicode"/>
              </a:rPr>
              <a:t>of</a:t>
            </a:r>
            <a:r>
              <a:rPr sz="2000" spc="-7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Engineering</a:t>
            </a:r>
            <a:r>
              <a:rPr sz="2000" spc="-7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FF0000"/>
                </a:solidFill>
                <a:latin typeface="Lucida Sans Unicode"/>
                <a:cs typeface="Lucida Sans Unicode"/>
              </a:rPr>
              <a:t>and</a:t>
            </a:r>
            <a:r>
              <a:rPr sz="2000" spc="-7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Technology, </a:t>
            </a:r>
            <a:r>
              <a:rPr sz="2000" spc="-25" dirty="0">
                <a:solidFill>
                  <a:srgbClr val="FF0000"/>
                </a:solidFill>
                <a:latin typeface="Lucida Sans Unicode"/>
                <a:cs typeface="Lucida Sans Unicode"/>
              </a:rPr>
              <a:t>Chitkara</a:t>
            </a:r>
            <a:r>
              <a:rPr sz="2000" spc="-9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Lucida Sans Unicode"/>
                <a:cs typeface="Lucida Sans Unicode"/>
              </a:rPr>
              <a:t>University,</a:t>
            </a:r>
            <a:r>
              <a:rPr sz="2000" spc="-9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Lucida Sans Unicode"/>
                <a:cs typeface="Lucida Sans Unicode"/>
              </a:rPr>
              <a:t>Punjab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9114" y="2264984"/>
            <a:ext cx="292828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Arial MT"/>
                <a:cs typeface="Arial MT"/>
              </a:rPr>
              <a:t>G</a:t>
            </a:r>
            <a:r>
              <a:rPr lang="en-IN" sz="3200" spc="-10" dirty="0">
                <a:latin typeface="Arial MT"/>
                <a:cs typeface="Arial MT"/>
              </a:rPr>
              <a:t>12-FE-PID-17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28732-86DE-3613-C0DD-AE7E631E6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190" y="228600"/>
            <a:ext cx="4144010" cy="492443"/>
          </a:xfrm>
        </p:spPr>
        <p:txBody>
          <a:bodyPr/>
          <a:lstStyle/>
          <a:p>
            <a:r>
              <a:rPr lang="en-IN" b="1" dirty="0"/>
              <a:t>Table Of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8A679-AF14-6DAC-22C3-A34F7B674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333" y="1219200"/>
            <a:ext cx="8229600" cy="31242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Introduction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Problem Statement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Technical Details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Technical Details – React Integration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Key Features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Project Highlights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Bonus Features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Conclusion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01CDE1B0-1C6A-7757-B68A-463CEED17994}"/>
              </a:ext>
            </a:extLst>
          </p:cNvPr>
          <p:cNvGrpSpPr/>
          <p:nvPr/>
        </p:nvGrpSpPr>
        <p:grpSpPr>
          <a:xfrm>
            <a:off x="6146793" y="0"/>
            <a:ext cx="2995930" cy="876300"/>
            <a:chOff x="6146793" y="0"/>
            <a:chExt cx="2995930" cy="87630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457EA539-C67F-32AC-CE58-A112443F389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0" y="228600"/>
              <a:ext cx="2057399" cy="638174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7E67CE4A-E58A-5006-CAEE-007E0FE71666}"/>
                </a:ext>
              </a:extLst>
            </p:cNvPr>
            <p:cNvSpPr/>
            <p:nvPr/>
          </p:nvSpPr>
          <p:spPr>
            <a:xfrm>
              <a:off x="6146793" y="0"/>
              <a:ext cx="2995930" cy="838200"/>
            </a:xfrm>
            <a:custGeom>
              <a:avLst/>
              <a:gdLst/>
              <a:ahLst/>
              <a:cxnLst/>
              <a:rect l="l" t="t" r="r" b="b"/>
              <a:pathLst>
                <a:path w="2995929" h="838200">
                  <a:moveTo>
                    <a:pt x="2995920" y="838193"/>
                  </a:moveTo>
                  <a:lnTo>
                    <a:pt x="0" y="838193"/>
                  </a:lnTo>
                  <a:lnTo>
                    <a:pt x="0" y="0"/>
                  </a:lnTo>
                  <a:lnTo>
                    <a:pt x="2995920" y="0"/>
                  </a:lnTo>
                  <a:lnTo>
                    <a:pt x="2995920" y="838193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3B8F0766-84A8-8CC7-D395-7769FA8E8C9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791" y="190496"/>
              <a:ext cx="2082807" cy="685797"/>
            </a:xfrm>
            <a:prstGeom prst="rect">
              <a:avLst/>
            </a:prstGeom>
          </p:spPr>
        </p:pic>
      </p:grpSp>
      <p:pic>
        <p:nvPicPr>
          <p:cNvPr id="5122" name="Picture 2" descr="EduTrack">
            <a:extLst>
              <a:ext uri="{FF2B5EF4-FFF2-40B4-BE49-F238E27FC236}">
                <a16:creationId xmlns:a16="http://schemas.microsoft.com/office/drawing/2014/main" id="{56410538-9A05-A0B7-E7CA-201F8CFA3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009900"/>
            <a:ext cx="494030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89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062085" cy="810260"/>
          </a:xfrm>
          <a:custGeom>
            <a:avLst/>
            <a:gdLst/>
            <a:ahLst/>
            <a:cxnLst/>
            <a:rect l="l" t="t" r="r" b="b"/>
            <a:pathLst>
              <a:path w="9062085" h="810260">
                <a:moveTo>
                  <a:pt x="9061538" y="809977"/>
                </a:moveTo>
                <a:lnTo>
                  <a:pt x="0" y="809977"/>
                </a:lnTo>
                <a:lnTo>
                  <a:pt x="0" y="0"/>
                </a:lnTo>
                <a:lnTo>
                  <a:pt x="9061538" y="0"/>
                </a:lnTo>
                <a:lnTo>
                  <a:pt x="9061538" y="80997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7056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>
                <a:moveTo>
                  <a:pt x="9143999" y="152399"/>
                </a:moveTo>
                <a:lnTo>
                  <a:pt x="0" y="152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523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146796" y="0"/>
            <a:ext cx="2995930" cy="876300"/>
            <a:chOff x="6146796" y="0"/>
            <a:chExt cx="2995930" cy="8763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199" y="228600"/>
              <a:ext cx="2057399" cy="6381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46796" y="0"/>
              <a:ext cx="2995930" cy="838200"/>
            </a:xfrm>
            <a:custGeom>
              <a:avLst/>
              <a:gdLst/>
              <a:ahLst/>
              <a:cxnLst/>
              <a:rect l="l" t="t" r="r" b="b"/>
              <a:pathLst>
                <a:path w="2995929" h="838200">
                  <a:moveTo>
                    <a:pt x="299591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2995910" y="0"/>
                  </a:lnTo>
                  <a:lnTo>
                    <a:pt x="2995910" y="8382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796" y="190500"/>
              <a:ext cx="2082803" cy="6857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5" dirty="0"/>
              <a:t>Introduction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9727" y="875519"/>
            <a:ext cx="8580755" cy="43832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US" sz="2400" b="1" dirty="0"/>
          </a:p>
          <a:p>
            <a:r>
              <a:rPr lang="en-US" sz="2400" b="1" dirty="0" err="1"/>
              <a:t>EduTrack</a:t>
            </a:r>
            <a:r>
              <a:rPr lang="en-US" sz="2400" b="1" dirty="0"/>
              <a:t> – Smart Student Management System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dirty="0"/>
              <a:t>~</a:t>
            </a:r>
            <a:r>
              <a:rPr lang="en-US" sz="2000" dirty="0" err="1"/>
              <a:t>EduTrack</a:t>
            </a:r>
            <a:r>
              <a:rPr lang="en-US" sz="2000" dirty="0"/>
              <a:t> is a modern, web-based student management platform designed to streamline academic, administrative, and institutional data handling. Built using </a:t>
            </a:r>
            <a:r>
              <a:rPr lang="en-US" sz="2000" b="1" dirty="0"/>
              <a:t>React + Vite</a:t>
            </a:r>
            <a:r>
              <a:rPr lang="en-US" sz="2000" dirty="0"/>
              <a:t>, it provides a clean, responsive, and highly interactive interface for students, faculty, and administrators.</a:t>
            </a:r>
          </a:p>
          <a:p>
            <a:endParaRPr lang="en-US" sz="2000" dirty="0"/>
          </a:p>
          <a:p>
            <a:r>
              <a:rPr lang="en-US" sz="2400" dirty="0"/>
              <a:t>~</a:t>
            </a:r>
            <a:r>
              <a:rPr lang="en-US" sz="2000" dirty="0"/>
              <a:t>The platform centralizes essential educational data—such as attendance, grades, courses, and notifications—into a single, secure system. </a:t>
            </a:r>
            <a:r>
              <a:rPr lang="en-US" sz="2000" dirty="0" err="1"/>
              <a:t>EduTrack</a:t>
            </a:r>
            <a:r>
              <a:rPr lang="en-US" sz="2000" dirty="0"/>
              <a:t> focuses on </a:t>
            </a:r>
            <a:r>
              <a:rPr lang="en-US" sz="2000" b="1" dirty="0"/>
              <a:t>automation</a:t>
            </a:r>
            <a:r>
              <a:rPr lang="en-US" sz="2000" dirty="0"/>
              <a:t>, </a:t>
            </a:r>
            <a:r>
              <a:rPr lang="en-US" sz="2000" b="1" dirty="0"/>
              <a:t>data accuracy</a:t>
            </a:r>
            <a:r>
              <a:rPr lang="en-US" sz="2000" dirty="0"/>
              <a:t>, and </a:t>
            </a:r>
            <a:r>
              <a:rPr lang="en-US" sz="2000" b="1" dirty="0"/>
              <a:t>real-time visibility</a:t>
            </a:r>
            <a:r>
              <a:rPr lang="en-US" sz="2000" dirty="0"/>
              <a:t>, ensuring a smooth digital experience for educational institutions.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41B31-5903-A396-1564-21012AFE6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990" y="210165"/>
            <a:ext cx="4144010" cy="492443"/>
          </a:xfrm>
        </p:spPr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64EAD-4927-901E-1130-30D80F1BD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04066"/>
            <a:ext cx="8382000" cy="483209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Traditional educational institutions struggle with: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~Slow and manual updates of student records</a:t>
            </a:r>
          </a:p>
          <a:p>
            <a:r>
              <a:rPr lang="en-US" sz="2000" dirty="0"/>
              <a:t>~Fragmented data across multiple systems</a:t>
            </a:r>
          </a:p>
          <a:p>
            <a:r>
              <a:rPr lang="en-US" sz="2000" dirty="0"/>
              <a:t>~Difficulty tracking student progress</a:t>
            </a:r>
          </a:p>
          <a:p>
            <a:r>
              <a:rPr lang="en-US" sz="2000" dirty="0"/>
              <a:t>~No central dashboard for students or faculty</a:t>
            </a:r>
          </a:p>
          <a:p>
            <a:r>
              <a:rPr lang="en-US" sz="2000" dirty="0"/>
              <a:t>~Lack of timely notifications for exams, fees, and attendance</a:t>
            </a:r>
          </a:p>
          <a:p>
            <a:r>
              <a:rPr lang="en-US" sz="2000" dirty="0"/>
              <a:t>~Limited reporting tools for administrators</a:t>
            </a:r>
          </a:p>
          <a:p>
            <a:r>
              <a:rPr lang="en-US" sz="2000" dirty="0"/>
              <a:t>~Poor data security and role-based access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EduTrack</a:t>
            </a:r>
            <a:r>
              <a:rPr lang="en-US" sz="2000" dirty="0"/>
              <a:t> addresses these issues by offering a fully digital,  centralized platform with structured data, secure access control, and automated workflows.</a:t>
            </a:r>
          </a:p>
          <a:p>
            <a:endParaRPr lang="en-IN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76BF85D0-1C56-A5D1-2175-52CFB5905A29}"/>
              </a:ext>
            </a:extLst>
          </p:cNvPr>
          <p:cNvGrpSpPr/>
          <p:nvPr/>
        </p:nvGrpSpPr>
        <p:grpSpPr>
          <a:xfrm>
            <a:off x="6146796" y="0"/>
            <a:ext cx="2995930" cy="876300"/>
            <a:chOff x="6146796" y="0"/>
            <a:chExt cx="2995930" cy="8763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5DC93A9-520C-4D71-28B4-B441B9EAB55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199" y="228600"/>
              <a:ext cx="2057399" cy="63817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EDCD79E-B938-D8F0-B80D-B6D028E3C9AF}"/>
                </a:ext>
              </a:extLst>
            </p:cNvPr>
            <p:cNvSpPr/>
            <p:nvPr/>
          </p:nvSpPr>
          <p:spPr>
            <a:xfrm>
              <a:off x="6146796" y="0"/>
              <a:ext cx="2995930" cy="838200"/>
            </a:xfrm>
            <a:custGeom>
              <a:avLst/>
              <a:gdLst/>
              <a:ahLst/>
              <a:cxnLst/>
              <a:rect l="l" t="t" r="r" b="b"/>
              <a:pathLst>
                <a:path w="2995929" h="838200">
                  <a:moveTo>
                    <a:pt x="299591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2995910" y="0"/>
                  </a:lnTo>
                  <a:lnTo>
                    <a:pt x="2995910" y="8382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7C38D2F-4318-2FCB-E004-65C22D07185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796" y="190500"/>
              <a:ext cx="2082803" cy="685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628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16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3993" y="838196"/>
                </a:moveTo>
                <a:lnTo>
                  <a:pt x="0" y="838196"/>
                </a:lnTo>
                <a:lnTo>
                  <a:pt x="0" y="0"/>
                </a:lnTo>
                <a:lnTo>
                  <a:pt x="9143993" y="0"/>
                </a:lnTo>
                <a:lnTo>
                  <a:pt x="9143993" y="83819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0" y="6705593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>
                <a:moveTo>
                  <a:pt x="9143993" y="152400"/>
                </a:moveTo>
                <a:lnTo>
                  <a:pt x="0" y="152400"/>
                </a:lnTo>
                <a:lnTo>
                  <a:pt x="0" y="0"/>
                </a:lnTo>
                <a:lnTo>
                  <a:pt x="9143993" y="0"/>
                </a:lnTo>
                <a:lnTo>
                  <a:pt x="9143993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146796" y="0"/>
            <a:ext cx="2995930" cy="876300"/>
            <a:chOff x="6146796" y="0"/>
            <a:chExt cx="2995930" cy="8763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199" y="228600"/>
              <a:ext cx="2057399" cy="6381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46796" y="0"/>
              <a:ext cx="2995930" cy="838200"/>
            </a:xfrm>
            <a:custGeom>
              <a:avLst/>
              <a:gdLst/>
              <a:ahLst/>
              <a:cxnLst/>
              <a:rect l="l" t="t" r="r" b="b"/>
              <a:pathLst>
                <a:path w="2995929" h="838200">
                  <a:moveTo>
                    <a:pt x="299591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2995910" y="0"/>
                  </a:lnTo>
                  <a:lnTo>
                    <a:pt x="2995910" y="8382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796" y="190500"/>
              <a:ext cx="2082803" cy="6857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8304" y="342321"/>
            <a:ext cx="53378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90" dirty="0"/>
              <a:t>Technical</a:t>
            </a:r>
            <a:r>
              <a:rPr b="1" spc="-465" dirty="0"/>
              <a:t> </a:t>
            </a:r>
            <a:r>
              <a:rPr b="1" spc="-30" dirty="0"/>
              <a:t>Details</a:t>
            </a:r>
            <a:r>
              <a:rPr lang="en-IN" b="1" spc="-30" dirty="0"/>
              <a:t>  </a:t>
            </a:r>
            <a:endParaRPr b="1" spc="-30" dirty="0"/>
          </a:p>
        </p:txBody>
      </p:sp>
      <p:sp>
        <p:nvSpPr>
          <p:cNvPr id="9" name="object 9"/>
          <p:cNvSpPr txBox="1"/>
          <p:nvPr/>
        </p:nvSpPr>
        <p:spPr>
          <a:xfrm>
            <a:off x="304800" y="1143960"/>
            <a:ext cx="8164762" cy="52456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Frontend </a:t>
            </a:r>
          </a:p>
          <a:p>
            <a:r>
              <a:rPr lang="en-IN" sz="2000" dirty="0"/>
              <a:t>~React.js (v18) – Component-based UI</a:t>
            </a:r>
          </a:p>
          <a:p>
            <a:r>
              <a:rPr lang="en-IN" sz="2000" dirty="0"/>
              <a:t>~Vite – Ultra-fast development bundler</a:t>
            </a:r>
          </a:p>
          <a:p>
            <a:r>
              <a:rPr lang="en-IN" sz="2000" dirty="0"/>
              <a:t>~HTML5, CSS3, JavaScript ES6+</a:t>
            </a:r>
          </a:p>
          <a:p>
            <a:r>
              <a:rPr lang="en-IN" sz="2000" dirty="0"/>
              <a:t>~React Router DOM – Multi-page navigation</a:t>
            </a:r>
          </a:p>
          <a:p>
            <a:r>
              <a:rPr lang="en-IN" sz="2000" dirty="0"/>
              <a:t>~React Hook Form + Yup – Form handling &amp; validation</a:t>
            </a:r>
          </a:p>
          <a:p>
            <a:r>
              <a:rPr lang="en-IN" sz="2000" dirty="0"/>
              <a:t>~Chart.js + react-chartjs-2 – Interactive graphs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Backend (Future-ready / Optional)</a:t>
            </a:r>
          </a:p>
          <a:p>
            <a:r>
              <a:rPr lang="en-IN" sz="2000" dirty="0"/>
              <a:t>Node.js + Express or Firebase (Authentication + hosting)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Database (Optional/Future Scope)</a:t>
            </a:r>
          </a:p>
          <a:p>
            <a:r>
              <a:rPr lang="en-IN" sz="2000" dirty="0"/>
              <a:t>MySQL / Firebase </a:t>
            </a:r>
            <a:r>
              <a:rPr lang="en-IN" sz="2000" dirty="0" err="1"/>
              <a:t>Firestore</a:t>
            </a:r>
            <a:endParaRPr lang="en-IN" sz="2000" dirty="0"/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Authentication</a:t>
            </a:r>
          </a:p>
          <a:p>
            <a:r>
              <a:rPr lang="en-IN" sz="2000" dirty="0"/>
              <a:t>Email/Password</a:t>
            </a:r>
          </a:p>
          <a:p>
            <a:r>
              <a:rPr lang="en-IN" sz="2000" dirty="0"/>
              <a:t>Role-based access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81EB-F573-D969-A5BA-D2962C29F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48733"/>
            <a:ext cx="6096000" cy="430887"/>
          </a:xfrm>
        </p:spPr>
        <p:txBody>
          <a:bodyPr/>
          <a:lstStyle/>
          <a:p>
            <a:r>
              <a:rPr lang="en-IN" sz="2400" b="1" spc="-90" dirty="0"/>
              <a:t>Technical</a:t>
            </a:r>
            <a:r>
              <a:rPr lang="en-IN" sz="2400" b="1" spc="-465" dirty="0"/>
              <a:t> </a:t>
            </a:r>
            <a:r>
              <a:rPr lang="en-IN" sz="2400" b="1" spc="-30" dirty="0"/>
              <a:t>Details-</a:t>
            </a:r>
            <a:r>
              <a:rPr lang="en-IN" sz="2400" b="1" dirty="0"/>
              <a:t>React </a:t>
            </a:r>
            <a:r>
              <a:rPr lang="en-IN" sz="2800" b="1" dirty="0"/>
              <a:t>Integration</a:t>
            </a:r>
            <a:r>
              <a:rPr lang="en-IN" sz="2400" b="1" spc="-30" dirty="0"/>
              <a:t> </a:t>
            </a:r>
            <a:endParaRPr lang="en-IN" sz="240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0F83F1C-96E3-A24A-C3D8-9E37D9CA94E2}"/>
              </a:ext>
            </a:extLst>
          </p:cNvPr>
          <p:cNvGrpSpPr/>
          <p:nvPr/>
        </p:nvGrpSpPr>
        <p:grpSpPr>
          <a:xfrm>
            <a:off x="6146796" y="0"/>
            <a:ext cx="2995930" cy="876300"/>
            <a:chOff x="6146796" y="0"/>
            <a:chExt cx="2995930" cy="8763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9616EDD-2B49-59F9-7D12-5EEC75DEAEB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199" y="228600"/>
              <a:ext cx="2057399" cy="63817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2B69931-815C-2389-3A94-6C0DA1BDC473}"/>
                </a:ext>
              </a:extLst>
            </p:cNvPr>
            <p:cNvSpPr/>
            <p:nvPr/>
          </p:nvSpPr>
          <p:spPr>
            <a:xfrm>
              <a:off x="6146796" y="0"/>
              <a:ext cx="2995930" cy="838200"/>
            </a:xfrm>
            <a:custGeom>
              <a:avLst/>
              <a:gdLst/>
              <a:ahLst/>
              <a:cxnLst/>
              <a:rect l="l" t="t" r="r" b="b"/>
              <a:pathLst>
                <a:path w="2995929" h="838200">
                  <a:moveTo>
                    <a:pt x="299591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2995910" y="0"/>
                  </a:lnTo>
                  <a:lnTo>
                    <a:pt x="2995910" y="8382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35DFA9D-C48E-3FBD-C241-608717E0B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796" y="190500"/>
              <a:ext cx="2082803" cy="685799"/>
            </a:xfrm>
            <a:prstGeom prst="rect">
              <a:avLst/>
            </a:prstGeom>
          </p:spPr>
        </p:pic>
      </p:grpSp>
      <p:sp>
        <p:nvSpPr>
          <p:cNvPr id="8" name="Rectangle 1">
            <a:extLst>
              <a:ext uri="{FF2B5EF4-FFF2-40B4-BE49-F238E27FC236}">
                <a16:creationId xmlns:a16="http://schemas.microsoft.com/office/drawing/2014/main" id="{9DB2C55C-6CDE-8524-1343-7F47299F4F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066799"/>
            <a:ext cx="74676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~Entire UI is built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components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fast builds and HMR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~Entry point: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index.html →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main.jsx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App.jsx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~Folder structure includes: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/components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Reusable UI components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/pages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Dashboard, Students, Courses, etc.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 Unicode MS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/hooks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Form &amp; validation logic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/assets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Images, icons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~State handled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Hooks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~All forms validated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Yup schemas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3" name="Picture 5" descr="Why React is Still Popular in 2024 ...">
            <a:extLst>
              <a:ext uri="{FF2B5EF4-FFF2-40B4-BE49-F238E27FC236}">
                <a16:creationId xmlns:a16="http://schemas.microsoft.com/office/drawing/2014/main" id="{7E6A8721-A0C0-2D31-D6E0-D7EF4903A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499" y="4502368"/>
            <a:ext cx="3924300" cy="204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Why Use React? - TatvaSoft Blog">
            <a:extLst>
              <a:ext uri="{FF2B5EF4-FFF2-40B4-BE49-F238E27FC236}">
                <a16:creationId xmlns:a16="http://schemas.microsoft.com/office/drawing/2014/main" id="{9B1D4519-9990-EB09-AC9D-3C38A3A5E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02368"/>
            <a:ext cx="3924301" cy="2006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03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7DE5-DCBE-D065-6737-4BFC04046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71" y="228600"/>
            <a:ext cx="4144010" cy="492443"/>
          </a:xfrm>
        </p:spPr>
        <p:txBody>
          <a:bodyPr/>
          <a:lstStyle/>
          <a:p>
            <a:r>
              <a:rPr lang="en-IN" b="1" dirty="0"/>
              <a:t>Key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D03EB-35A5-4E47-091E-4309A8EFE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19200"/>
            <a:ext cx="8305800" cy="452431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Student Features</a:t>
            </a:r>
          </a:p>
          <a:p>
            <a:r>
              <a:rPr lang="en-IN" sz="2000" dirty="0"/>
              <a:t>Dashboard Overview: Attendance, grades, fees, notifications</a:t>
            </a:r>
          </a:p>
          <a:p>
            <a:r>
              <a:rPr lang="en-IN" sz="2000" dirty="0"/>
              <a:t>Responsive UI</a:t>
            </a:r>
            <a:r>
              <a:rPr lang="en-IN" sz="2000" b="1" dirty="0"/>
              <a:t>:</a:t>
            </a:r>
            <a:r>
              <a:rPr lang="en-IN" sz="2000" dirty="0"/>
              <a:t> Works flawlessly on mobile, tablet, and desktop</a:t>
            </a:r>
          </a:p>
          <a:p>
            <a:r>
              <a:rPr lang="en-IN" sz="2000" dirty="0"/>
              <a:t>Profile Management</a:t>
            </a:r>
            <a:r>
              <a:rPr lang="en-IN" sz="2000" b="1" dirty="0"/>
              <a:t>:</a:t>
            </a:r>
            <a:r>
              <a:rPr lang="en-IN" sz="2000" dirty="0"/>
              <a:t> Update personal details</a:t>
            </a:r>
          </a:p>
          <a:p>
            <a:r>
              <a:rPr lang="en-IN" sz="2000" dirty="0"/>
              <a:t>Downloadable Records</a:t>
            </a:r>
            <a:r>
              <a:rPr lang="en-IN" sz="2000" b="1" dirty="0"/>
              <a:t>:</a:t>
            </a:r>
            <a:r>
              <a:rPr lang="en-IN" sz="2000" dirty="0"/>
              <a:t> Report cards &amp; fee receipts</a:t>
            </a:r>
          </a:p>
          <a:p>
            <a:r>
              <a:rPr lang="en-IN" sz="2000" dirty="0"/>
              <a:t>Exam and Fee Alerts</a:t>
            </a:r>
            <a:r>
              <a:rPr lang="en-IN" sz="2000" b="1" dirty="0"/>
              <a:t>:</a:t>
            </a:r>
            <a:r>
              <a:rPr lang="en-IN" sz="2000" dirty="0"/>
              <a:t> Real-time reminders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Admin Features</a:t>
            </a:r>
          </a:p>
          <a:p>
            <a:r>
              <a:rPr lang="en-IN" sz="2000" dirty="0"/>
              <a:t>Centralized Student Management</a:t>
            </a:r>
          </a:p>
          <a:p>
            <a:r>
              <a:rPr lang="en-IN" sz="2000" dirty="0"/>
              <a:t>Course &amp; Faculty Management</a:t>
            </a:r>
          </a:p>
          <a:p>
            <a:r>
              <a:rPr lang="en-IN" sz="2000" dirty="0"/>
              <a:t>Add/Update/Delete Records</a:t>
            </a:r>
          </a:p>
          <a:p>
            <a:r>
              <a:rPr lang="en-IN" sz="2000" dirty="0"/>
              <a:t>Role-Based Access Control</a:t>
            </a:r>
          </a:p>
          <a:p>
            <a:r>
              <a:rPr lang="en-IN" sz="2000" dirty="0"/>
              <a:t>Automated Reports</a:t>
            </a:r>
            <a:r>
              <a:rPr lang="en-IN" sz="2000" b="1" dirty="0"/>
              <a:t>:</a:t>
            </a:r>
            <a:r>
              <a:rPr lang="en-IN" sz="2000" dirty="0"/>
              <a:t> Attendance, performance, finances</a:t>
            </a:r>
          </a:p>
          <a:p>
            <a:r>
              <a:rPr lang="en-IN" sz="2000" dirty="0"/>
              <a:t>Analytics Dashboard with Charts</a:t>
            </a:r>
          </a:p>
          <a:p>
            <a:endParaRPr lang="en-IN" dirty="0"/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735122AE-FA47-994F-EF4B-C849C966D476}"/>
              </a:ext>
            </a:extLst>
          </p:cNvPr>
          <p:cNvGrpSpPr/>
          <p:nvPr/>
        </p:nvGrpSpPr>
        <p:grpSpPr>
          <a:xfrm>
            <a:off x="6146796" y="0"/>
            <a:ext cx="2995930" cy="876300"/>
            <a:chOff x="6146796" y="0"/>
            <a:chExt cx="2995930" cy="87630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B420ED18-6E99-71E8-7614-0E96446C01F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199" y="228600"/>
              <a:ext cx="2057399" cy="638174"/>
            </a:xfrm>
            <a:prstGeom prst="rect">
              <a:avLst/>
            </a:prstGeom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2612D90C-D51B-B149-F9D0-756B9F9D6F12}"/>
                </a:ext>
              </a:extLst>
            </p:cNvPr>
            <p:cNvSpPr/>
            <p:nvPr/>
          </p:nvSpPr>
          <p:spPr>
            <a:xfrm>
              <a:off x="6146796" y="0"/>
              <a:ext cx="2995930" cy="838200"/>
            </a:xfrm>
            <a:custGeom>
              <a:avLst/>
              <a:gdLst/>
              <a:ahLst/>
              <a:cxnLst/>
              <a:rect l="l" t="t" r="r" b="b"/>
              <a:pathLst>
                <a:path w="2995929" h="838200">
                  <a:moveTo>
                    <a:pt x="299591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2995910" y="0"/>
                  </a:lnTo>
                  <a:lnTo>
                    <a:pt x="2995910" y="8382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E70F0C7-2F14-81B0-3CCF-A81E7E9F4C9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796" y="190500"/>
              <a:ext cx="2082803" cy="685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1027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2B55-4C22-FD05-59AA-75A0BCB2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96" y="228600"/>
            <a:ext cx="4144010" cy="492443"/>
          </a:xfrm>
        </p:spPr>
        <p:txBody>
          <a:bodyPr/>
          <a:lstStyle/>
          <a:p>
            <a:r>
              <a:rPr lang="en-IN" b="1" dirty="0"/>
              <a:t>Project Highlights</a:t>
            </a: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65BE805B-299B-D7AF-49F9-FD0ED0C46DE0}"/>
              </a:ext>
            </a:extLst>
          </p:cNvPr>
          <p:cNvGrpSpPr/>
          <p:nvPr/>
        </p:nvGrpSpPr>
        <p:grpSpPr>
          <a:xfrm>
            <a:off x="6146793" y="0"/>
            <a:ext cx="2995930" cy="876300"/>
            <a:chOff x="6146793" y="0"/>
            <a:chExt cx="2995930" cy="8763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A7C6B1A-A537-9665-5C9F-4823C4DB1CE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0" y="228600"/>
              <a:ext cx="2057399" cy="63817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A87C922-1EB2-D1A6-45B9-A9411DEFF316}"/>
                </a:ext>
              </a:extLst>
            </p:cNvPr>
            <p:cNvSpPr/>
            <p:nvPr/>
          </p:nvSpPr>
          <p:spPr>
            <a:xfrm>
              <a:off x="6146793" y="0"/>
              <a:ext cx="2995930" cy="838200"/>
            </a:xfrm>
            <a:custGeom>
              <a:avLst/>
              <a:gdLst/>
              <a:ahLst/>
              <a:cxnLst/>
              <a:rect l="l" t="t" r="r" b="b"/>
              <a:pathLst>
                <a:path w="2995929" h="838200">
                  <a:moveTo>
                    <a:pt x="2995920" y="838193"/>
                  </a:moveTo>
                  <a:lnTo>
                    <a:pt x="0" y="838193"/>
                  </a:lnTo>
                  <a:lnTo>
                    <a:pt x="0" y="0"/>
                  </a:lnTo>
                  <a:lnTo>
                    <a:pt x="2995920" y="0"/>
                  </a:lnTo>
                  <a:lnTo>
                    <a:pt x="2995920" y="838193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994C99C4-D7D8-CC8D-80B1-C67DCBDFE89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791" y="190496"/>
              <a:ext cx="2082807" cy="685797"/>
            </a:xfrm>
            <a:prstGeom prst="rect">
              <a:avLst/>
            </a:prstGeom>
          </p:spPr>
        </p:pic>
      </p:grpSp>
      <p:sp>
        <p:nvSpPr>
          <p:cNvPr id="8" name="Rectangle 1">
            <a:extLst>
              <a:ext uri="{FF2B5EF4-FFF2-40B4-BE49-F238E27FC236}">
                <a16:creationId xmlns:a16="http://schemas.microsoft.com/office/drawing/2014/main" id="{512D14AE-25D4-BA17-1931-38E804D5D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1644" y="1240304"/>
            <a:ext cx="821410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~Fast Performance: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Optimized with Vite + modular React components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~High Accuracy: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Validated inputs, low redundancy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~Modern UI/UX: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Clean layout, mobile friendly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~Better Security: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Role-based permissions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~Visual Analytics: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Charts for student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~Scalable Architecture: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Easy to expand features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12B609-C11E-0E39-35B6-325A0A442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6600"/>
            <a:ext cx="7467600" cy="329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6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Project</a:t>
            </a:r>
            <a:r>
              <a:rPr b="1" spc="-160" dirty="0"/>
              <a:t> </a:t>
            </a:r>
            <a:r>
              <a:rPr b="1" spc="-45" dirty="0"/>
              <a:t>Highlights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8622F8-063B-9D89-F6C6-DD744237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429000"/>
            <a:ext cx="6781800" cy="323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7579A6-8CC3-D5AA-6693-0501EDC5F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838200"/>
            <a:ext cx="57150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CBA72-97FF-3DE9-E29B-2B3E7F9C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990" y="228600"/>
            <a:ext cx="4144010" cy="492443"/>
          </a:xfrm>
        </p:spPr>
        <p:txBody>
          <a:bodyPr/>
          <a:lstStyle/>
          <a:p>
            <a:r>
              <a:rPr lang="en-IN" b="1" dirty="0"/>
              <a:t>Bonus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84070-C19C-966A-7999-778D5544E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676400"/>
            <a:ext cx="7725410" cy="310854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/>
              <a:t>Bonus: Interactive Analytics Dashboard</a:t>
            </a:r>
          </a:p>
          <a:p>
            <a:endParaRPr lang="en-US" sz="2400" b="1" dirty="0"/>
          </a:p>
          <a:p>
            <a:r>
              <a:rPr lang="en-US" sz="2000" dirty="0"/>
              <a:t>~Student performance visualized with charts</a:t>
            </a:r>
          </a:p>
          <a:p>
            <a:endParaRPr lang="en-US" sz="2000" dirty="0"/>
          </a:p>
          <a:p>
            <a:r>
              <a:rPr lang="en-US" sz="2000" dirty="0"/>
              <a:t>~Attendance insights with weekly/monthly graphs</a:t>
            </a:r>
          </a:p>
          <a:p>
            <a:endParaRPr lang="en-US" sz="2000" dirty="0"/>
          </a:p>
          <a:p>
            <a:r>
              <a:rPr lang="en-US" sz="2000" dirty="0"/>
              <a:t>~Fee status heatmaps (future integration)</a:t>
            </a:r>
          </a:p>
          <a:p>
            <a:endParaRPr lang="en-US" sz="2000" dirty="0"/>
          </a:p>
          <a:p>
            <a:r>
              <a:rPr lang="en-US" sz="2000" dirty="0"/>
              <a:t>~Downloadable PDF reports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739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46793" y="0"/>
            <a:ext cx="2995930" cy="876300"/>
            <a:chOff x="6146793" y="0"/>
            <a:chExt cx="2995930" cy="876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0" y="228600"/>
              <a:ext cx="2057399" cy="6381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46793" y="0"/>
              <a:ext cx="2995930" cy="838200"/>
            </a:xfrm>
            <a:custGeom>
              <a:avLst/>
              <a:gdLst/>
              <a:ahLst/>
              <a:cxnLst/>
              <a:rect l="l" t="t" r="r" b="b"/>
              <a:pathLst>
                <a:path w="2995929" h="838200">
                  <a:moveTo>
                    <a:pt x="2995920" y="838193"/>
                  </a:moveTo>
                  <a:lnTo>
                    <a:pt x="0" y="838193"/>
                  </a:lnTo>
                  <a:lnTo>
                    <a:pt x="0" y="0"/>
                  </a:lnTo>
                  <a:lnTo>
                    <a:pt x="2995920" y="0"/>
                  </a:lnTo>
                  <a:lnTo>
                    <a:pt x="2995920" y="838193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791" y="190496"/>
              <a:ext cx="2082807" cy="68579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4146" y="242564"/>
            <a:ext cx="4144010" cy="556788"/>
          </a:xfrm>
          <a:prstGeom prst="rect">
            <a:avLst/>
          </a:prstGeom>
        </p:spPr>
        <p:txBody>
          <a:bodyPr vert="horz" wrap="square" lIns="0" tIns="637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70" dirty="0"/>
              <a:t>Conclusion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4792" y="1295400"/>
            <a:ext cx="8654415" cy="406906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rPr lang="en-US" sz="2400" dirty="0" err="1"/>
              <a:t>EduTrack</a:t>
            </a:r>
            <a:r>
              <a:rPr lang="en-US" sz="2400" dirty="0"/>
              <a:t> successfully digitalizes the entire educational management workflow.</a:t>
            </a:r>
          </a:p>
          <a:p>
            <a:br>
              <a:rPr lang="en-US" sz="2400" dirty="0"/>
            </a:br>
            <a:r>
              <a:rPr lang="en-US" sz="2400" dirty="0"/>
              <a:t>It enhances:</a:t>
            </a:r>
          </a:p>
          <a:p>
            <a:r>
              <a:rPr lang="en-US" sz="2400" b="1" dirty="0"/>
              <a:t>Efficiency</a:t>
            </a:r>
            <a:r>
              <a:rPr lang="en-US" sz="2400" dirty="0"/>
              <a:t> – faster updates and easy data access</a:t>
            </a:r>
          </a:p>
          <a:p>
            <a:r>
              <a:rPr lang="en-US" sz="2400" b="1" dirty="0"/>
              <a:t>Transparency</a:t>
            </a:r>
            <a:r>
              <a:rPr lang="en-US" sz="2400" dirty="0"/>
              <a:t> – real-time dashboards for all roles</a:t>
            </a:r>
          </a:p>
          <a:p>
            <a:r>
              <a:rPr lang="en-US" sz="2400" b="1" dirty="0"/>
              <a:t>Security</a:t>
            </a:r>
            <a:r>
              <a:rPr lang="en-US" sz="2400" dirty="0"/>
              <a:t> – controlled access for students, faculty &amp; admins</a:t>
            </a:r>
          </a:p>
          <a:p>
            <a:r>
              <a:rPr lang="en-US" sz="2400" b="1" dirty="0"/>
              <a:t>Automation</a:t>
            </a:r>
            <a:r>
              <a:rPr lang="en-US" sz="2400" dirty="0"/>
              <a:t> – fewer manual errors, smooth operations</a:t>
            </a:r>
          </a:p>
          <a:p>
            <a:endParaRPr lang="en-US" sz="2400" dirty="0"/>
          </a:p>
          <a:p>
            <a:r>
              <a:rPr lang="en-US" sz="2400" dirty="0" err="1"/>
              <a:t>EduTrack</a:t>
            </a:r>
            <a:r>
              <a:rPr lang="en-US" sz="2400" dirty="0"/>
              <a:t> proves to be a scalable, secure, and modern solution for educational institutions.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3993" y="838196"/>
                </a:moveTo>
                <a:lnTo>
                  <a:pt x="0" y="838196"/>
                </a:lnTo>
                <a:lnTo>
                  <a:pt x="0" y="0"/>
                </a:lnTo>
                <a:lnTo>
                  <a:pt x="9143993" y="0"/>
                </a:lnTo>
                <a:lnTo>
                  <a:pt x="9143993" y="83819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705593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>
                <a:moveTo>
                  <a:pt x="9143993" y="152400"/>
                </a:moveTo>
                <a:lnTo>
                  <a:pt x="0" y="152400"/>
                </a:lnTo>
                <a:lnTo>
                  <a:pt x="0" y="0"/>
                </a:lnTo>
                <a:lnTo>
                  <a:pt x="9143993" y="0"/>
                </a:lnTo>
                <a:lnTo>
                  <a:pt x="9143993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146796" y="0"/>
            <a:ext cx="2995930" cy="876300"/>
            <a:chOff x="6146796" y="0"/>
            <a:chExt cx="2995930" cy="8763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199" y="228600"/>
              <a:ext cx="2057399" cy="6381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46796" y="0"/>
              <a:ext cx="2995930" cy="838200"/>
            </a:xfrm>
            <a:custGeom>
              <a:avLst/>
              <a:gdLst/>
              <a:ahLst/>
              <a:cxnLst/>
              <a:rect l="l" t="t" r="r" b="b"/>
              <a:pathLst>
                <a:path w="2995929" h="838200">
                  <a:moveTo>
                    <a:pt x="299591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2995910" y="0"/>
                  </a:lnTo>
                  <a:lnTo>
                    <a:pt x="2995910" y="83820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796" y="190500"/>
              <a:ext cx="2082803" cy="6857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7990" y="190500"/>
            <a:ext cx="4372610" cy="573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75" dirty="0"/>
              <a:t>References</a:t>
            </a:r>
            <a:r>
              <a:rPr sz="3650" b="1" spc="-75" dirty="0">
                <a:latin typeface="Verdana"/>
                <a:cs typeface="Verdana"/>
              </a:rPr>
              <a:t>/</a:t>
            </a:r>
            <a:r>
              <a:rPr b="1" spc="-75" dirty="0"/>
              <a:t>Link</a:t>
            </a:r>
            <a:r>
              <a:rPr b="1" spc="-409" dirty="0"/>
              <a:t> </a:t>
            </a:r>
            <a:r>
              <a:rPr b="1" spc="-20" dirty="0"/>
              <a:t>Used</a:t>
            </a:r>
            <a:endParaRPr sz="3650" b="1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848" y="1312430"/>
            <a:ext cx="8566152" cy="24737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hlinkClick r:id="rId4"/>
              </a:rPr>
              <a:t>https://geniusee.com/single-blog/key-features-of-school-management-software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br>
              <a:rPr lang="en-IN" sz="2000" dirty="0"/>
            </a:br>
            <a:r>
              <a:rPr lang="en-IN" sz="2000" dirty="0">
                <a:hlinkClick r:id="rId5"/>
              </a:rPr>
              <a:t>https://itechindia.co/blog/features-of-student-management-system/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br>
              <a:rPr lang="en-IN" sz="2000" dirty="0"/>
            </a:br>
            <a:r>
              <a:rPr lang="en-IN" sz="2000" dirty="0">
                <a:hlinkClick r:id="rId6"/>
              </a:rPr>
              <a:t>https://react.dev/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br>
              <a:rPr lang="en-IN" sz="2000" dirty="0"/>
            </a:br>
            <a:r>
              <a:rPr lang="en-IN" sz="2000" dirty="0">
                <a:hlinkClick r:id="rId7"/>
              </a:rPr>
              <a:t>https://vitejs.dev/</a:t>
            </a:r>
            <a:endParaRPr lang="en-IN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648450"/>
            <a:chOff x="0" y="0"/>
            <a:chExt cx="9144000" cy="6648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0" y="228600"/>
              <a:ext cx="2057399" cy="6381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46793" y="0"/>
              <a:ext cx="2995930" cy="838200"/>
            </a:xfrm>
            <a:custGeom>
              <a:avLst/>
              <a:gdLst/>
              <a:ahLst/>
              <a:cxnLst/>
              <a:rect l="l" t="t" r="r" b="b"/>
              <a:pathLst>
                <a:path w="2995929" h="838200">
                  <a:moveTo>
                    <a:pt x="2995920" y="838193"/>
                  </a:moveTo>
                  <a:lnTo>
                    <a:pt x="0" y="838193"/>
                  </a:lnTo>
                  <a:lnTo>
                    <a:pt x="0" y="0"/>
                  </a:lnTo>
                  <a:lnTo>
                    <a:pt x="2995920" y="0"/>
                  </a:lnTo>
                  <a:lnTo>
                    <a:pt x="2995920" y="838193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7791" y="190496"/>
              <a:ext cx="2082807" cy="6857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3200" y="228600"/>
              <a:ext cx="1924049" cy="609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857230"/>
              <a:ext cx="9143999" cy="57911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689</Words>
  <Application>Microsoft Office PowerPoint</Application>
  <PresentationFormat>On-screen Show (4:3)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MT</vt:lpstr>
      <vt:lpstr>Arial Unicode MS</vt:lpstr>
      <vt:lpstr>Calibri</vt:lpstr>
      <vt:lpstr>Lucida Sans Unicode</vt:lpstr>
      <vt:lpstr>Verdana</vt:lpstr>
      <vt:lpstr>Wingdings</vt:lpstr>
      <vt:lpstr>Office Theme</vt:lpstr>
      <vt:lpstr>Front End Engineering-II</vt:lpstr>
      <vt:lpstr>Table Of Contents</vt:lpstr>
      <vt:lpstr>Introduction</vt:lpstr>
      <vt:lpstr>Problem Statement</vt:lpstr>
      <vt:lpstr>Technical Details  </vt:lpstr>
      <vt:lpstr>Technical Details-React Integration </vt:lpstr>
      <vt:lpstr>Key Features</vt:lpstr>
      <vt:lpstr>Project Highlights</vt:lpstr>
      <vt:lpstr>Project Highlights</vt:lpstr>
      <vt:lpstr>Bonus Features</vt:lpstr>
      <vt:lpstr>Conclusion</vt:lpstr>
      <vt:lpstr>References/Link Used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FEE_ppt (2410990894)_.pdf</dc:title>
  <dc:creator>Gym Motivation</dc:creator>
  <cp:keywords>DAGyZN06xiM,BAGSbuIv-b4,0</cp:keywords>
  <cp:lastModifiedBy>Arjun Sharma</cp:lastModifiedBy>
  <cp:revision>7</cp:revision>
  <dcterms:created xsi:type="dcterms:W3CDTF">2025-10-30T13:43:18Z</dcterms:created>
  <dcterms:modified xsi:type="dcterms:W3CDTF">2025-11-17T07:34:02Z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2025-10-30T00:00:00Z</vt:filetime>
  </property>
  <property fmtid="{D5CDD505-2E9C-101B-9397-08002B2CF9AE}" pid="3" name="Creator">
    <vt:lpwstr>Canva</vt:lpwstr>
  </property>
  <property fmtid="{D5CDD505-2E9C-101B-9397-08002B2CF9AE}" pid="4" name="LastSaved">
    <vt:filetime>2025-10-30T00:00:00Z</vt:filetime>
  </property>
  <property fmtid="{D5CDD505-2E9C-101B-9397-08002B2CF9AE}" pid="5" name="Producer">
    <vt:lpwstr>Canva</vt:lpwstr>
  </property>
</Properties>
</file>